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2011680"/>
            <a:ext cx="12024360" cy="73152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200" i="0">
                <a:solidFill>
                  <a:srgbClr val="FFFFFF"/>
                </a:solidFill>
              </a:rPr>
              <a:t>PignAudit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000" i="1">
                <a:solidFill>
                  <a:srgbClr val="17A59E"/>
                </a:solidFill>
              </a:rPr>
              <a:t>An AI-Assisted Internal Audit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 i="0">
                <a:solidFill>
                  <a:srgbClr val="FFFFFF"/>
                </a:solidFill>
              </a:rPr>
              <a:t>How It Was Designed, Built &amp; Deployed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3566160" cy="3108960"/>
          </a:xfrm>
          <a:prstGeom prst="rect">
            <a:avLst/>
          </a:prstGeom>
          <a:solidFill>
            <a:srgbClr val="2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 i="0">
                <a:solidFill>
                  <a:srgbClr val="17A59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FFFFFF"/>
                </a:solidFill>
              </a:rPr>
              <a:t>Prompt-Driven
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0F4F8"/>
                </a:solidFill>
              </a:rPr>
              <a:t>Requirements, architecture and
code generated via AI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971800"/>
            <a:ext cx="3566160" cy="3108960"/>
          </a:xfrm>
          <a:prstGeom prst="rect">
            <a:avLst/>
          </a:prstGeom>
          <a:solidFill>
            <a:srgbClr val="2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 i="0">
                <a:solidFill>
                  <a:srgbClr val="17A59E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FFFFFF"/>
                </a:solidFill>
              </a:rPr>
              <a:t>Modern
Monorepo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160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0F4F8"/>
                </a:solidFill>
              </a:rPr>
              <a:t>Next.js · Prisma · Turborepo
TypeScript end-to-end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971800"/>
            <a:ext cx="3566160" cy="3108960"/>
          </a:xfrm>
          <a:prstGeom prst="rect">
            <a:avLst/>
          </a:prstGeom>
          <a:solidFill>
            <a:srgbClr val="2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 i="0">
                <a:solidFill>
                  <a:srgbClr val="17A59E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FFFFFF"/>
                </a:solidFill>
              </a:rPr>
              <a:t>Cloud-Native
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160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0F4F8"/>
                </a:solidFill>
              </a:rPr>
              <a:t>AWS ECS Fargate · Aurora
PostgreSQL · ElastiCache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6492240"/>
            <a:ext cx="12024360" cy="36576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9BB5"/>
                </a:solidFill>
              </a:rPr>
              <a:t>Confidential  ·  March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00" i="0">
                <a:solidFill>
                  <a:srgbClr val="8A9BB5"/>
                </a:solidFill>
              </a:rPr>
              <a:t>Page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960120"/>
            <a:ext cx="12024360" cy="54864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 i="0">
                <a:solidFill>
                  <a:srgbClr val="FFFFFF"/>
                </a:solidFill>
              </a:rPr>
              <a:t>Prompt Engineering &amp; Architecture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4864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  AI Prompt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541324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9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205CAD"/>
                </a:solidFill>
              </a:rPr>
              <a:t>Scoping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"Build a SaaS internal audit platform inspired by TeamMate+. Include audit planning, fieldwork, findings, reporting and RBAC."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322576"/>
            <a:ext cx="541324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59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205CAD"/>
                </a:solidFill>
              </a:rPr>
              <a:t>Architecture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"Use Next.js 14 App Router as BFF, Prisma + PostgreSQL for data, Redis + BullMQ for async jobs, AWS ECS for deployment. Monorepo via Turborepo."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072384"/>
            <a:ext cx="541324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205CAD"/>
                </a:solidFill>
              </a:rPr>
              <a:t>Schema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46703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"Generate a Prisma schema for multi-tenant audit management with: Organization, User (4 roles), AuditPlan, AuditEngagement, WorkProgram, TestProcedure, Finding, ActionItem, AuditReport, PolicyRule &amp; AuditLog."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822191"/>
            <a:ext cx="541324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205CAD"/>
                </a:solidFill>
              </a:rPr>
              <a:t>CI/CD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96511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"Create GitHub Actions workflows: CI (lint, typecheck, test, build) and deploy (build Docker → push ECR → deploy ECS) using OIDC auth."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572000"/>
            <a:ext cx="541324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085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205CAD"/>
                </a:solidFill>
              </a:rPr>
              <a:t>IaC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"Write Terraform for: VPC, ECS Fargate (web + workers), Aurora PostgreSQL Serverless v2, ElastiCache Redis, S3 with KMS, ALB — staging &amp; production."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43000"/>
            <a:ext cx="576072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1430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  Key Architecture Decisions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1572768"/>
            <a:ext cx="56875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1609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17A59E"/>
                </a:solidFill>
              </a:rPr>
              <a:t>Monorepo (Turborepo)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8470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Single repo for web, workers, database, shared UI and config packages. Enables atomic commits, shared types, and fast incremental builds.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2322576"/>
            <a:ext cx="56875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23591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17A59E"/>
                </a:solidFill>
              </a:rPr>
              <a:t>Next.js as BFF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259689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API routes co-located with the frontend eliminate a separate Node server. React Server Components reduce client JS bundle size.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3072384"/>
            <a:ext cx="56875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17A59E"/>
                </a:solidFill>
              </a:rPr>
              <a:t>Prisma 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34670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Schema-first approach: one source of truth for the DB model, auto-generated TypeScript types, and migration history tracked in git.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3912" y="3822191"/>
            <a:ext cx="56875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8587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17A59E"/>
                </a:solidFill>
              </a:rPr>
              <a:t>BullMQ + Redis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096511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Async jobs (PDF report generation, email notifications) decoupled from the request lifecycle. Redis also serves sessions and caching.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3912" y="4572000"/>
            <a:ext cx="56875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608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17A59E"/>
                </a:solidFill>
              </a:rPr>
              <a:t>Aurora Serverless 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846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Auto-scales from near-zero (cost-efficient for staging) to 16 ACUs in production. Built-in PITR and 30-day backup retention.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53912" y="5321808"/>
            <a:ext cx="56875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53583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17A59E"/>
                </a:solidFill>
              </a:rPr>
              <a:t>OIDC for CI/CD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5961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GitHub Actions authenticates to AWS via OIDC federation — no long-lived IAM keys stored in secrets, reducing credential exposure risk.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6656832"/>
            <a:ext cx="12024360" cy="36576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72998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9BB5"/>
                </a:solidFill>
              </a:rPr>
              <a:t>Confidential  ·  March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7299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00" i="0">
                <a:solidFill>
                  <a:srgbClr val="8A9BB5"/>
                </a:solidFill>
              </a:rPr>
              <a:t>Page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960120"/>
            <a:ext cx="12024360" cy="54864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 i="0">
                <a:solidFill>
                  <a:srgbClr val="FFFFFF"/>
                </a:solidFill>
              </a:rPr>
              <a:t>Full Technology Stack &amp; Deployment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521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Next.js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463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App Router · RSC · Server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419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React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419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UI components · hooks ·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208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Tailwind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0208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Utility-first CSS design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997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TanStack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2997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Server state, caching, pagination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86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Zustand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5786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Lightweight global UI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575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NextAuth.js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8575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Database sessions · SAML/OIDC SSO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38144"/>
            <a:ext cx="5577840" cy="1289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438144"/>
            <a:ext cx="5577840" cy="292608"/>
          </a:xfrm>
          <a:prstGeom prst="rect">
            <a:avLst/>
          </a:prstGeom>
          <a:solidFill>
            <a:srgbClr val="2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API / Workers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8561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205CAD"/>
                </a:solidFill>
              </a:rPr>
              <a:t>▸ Next.js API Routes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785615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BFF pattern – REST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45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205CAD"/>
                </a:solidFill>
              </a:rPr>
              <a:t>▸ BullMQ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06450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Redis-backed async job queues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4339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205CAD"/>
                </a:solidFill>
              </a:rPr>
              <a:t>▸ Node.js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34339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Worker process runtime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55464"/>
            <a:ext cx="557784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855464"/>
            <a:ext cx="5577840" cy="292608"/>
          </a:xfrm>
          <a:prstGeom prst="rect">
            <a:avLst/>
          </a:prstGeom>
          <a:solidFill>
            <a:srgbClr val="5B4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029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5B4AC8"/>
                </a:solidFill>
              </a:rPr>
              <a:t>▸ Prisma ORM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2029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Schema-first, type-safe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8182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5B4AC8"/>
                </a:solidFill>
              </a:rPr>
              <a:t>▸ PostgreSQL 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548182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Primary relational store (Aurora)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607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5B4AC8"/>
                </a:solidFill>
              </a:rPr>
              <a:t>▸ Redis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76071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Sessions · cache · queue backing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396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5B4AC8"/>
                </a:solidFill>
              </a:rPr>
              <a:t>▸ S3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6039611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Workpaper &amp; document storage (KMS)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1115568"/>
            <a:ext cx="5687568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1115568"/>
            <a:ext cx="5687568" cy="2926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11521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AWS Infrastructure (Terraform)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14813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ECS Fargate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14813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Containerised web + worker services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176936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Aurora PostgreSQL v2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176936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Serverless DB — auto-scales 0.5→16 ACUs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20574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ElastiCache Redis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0574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Managed Redis cluster with 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234543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S3 + KMS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234543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Encrypted document storage + versioning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26334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ALB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263347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HTTPS load balancer → ECS tasks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292150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CloudWatch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29215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Logs, metrics, Container Insights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6792" y="320954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ECR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20954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Private Docker image registry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3497579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A2B4A"/>
                </a:solidFill>
              </a:rPr>
              <a:t>▸ VPC / 3 AZs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3497579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Private subnets, NAT gateways, SGs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9632" y="4142232"/>
            <a:ext cx="5687568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99632" y="4142232"/>
            <a:ext cx="5687568" cy="292608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6792" y="41788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CI/CD Pipeline (GitHub Actions)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45079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Lint &amp; Typecheck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5079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ESLint + TypeScript across monorepo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36792" y="477316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Unit Tests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4773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Vitest with PostgreSQL &amp; Redis services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36792" y="503834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Build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03834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Turborepo incremental build + Vercel check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36792" y="53035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Docker Build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53035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Multi-stage images for web &amp; workers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36792" y="556869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Push to ECR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0" y="55686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Tagged with git SHA per environment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36792" y="58338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ECS Deploy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583387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Force new deployment → wait for stability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36792" y="60990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AWS Auth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0" y="609904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OIDC federation — zero stored IAM secrets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6792" y="636422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 i="0">
                <a:solidFill>
                  <a:srgbClr val="17A59E"/>
                </a:solidFill>
              </a:rPr>
              <a:t>▸ Environments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63642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2D3A4E"/>
                </a:solidFill>
              </a:rPr>
              <a:t>develop → staging  ·  main → production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" y="6656832"/>
            <a:ext cx="12024360" cy="36576"/>
          </a:xfrm>
          <a:prstGeom prst="rect">
            <a:avLst/>
          </a:prstGeom>
          <a:solidFill>
            <a:srgbClr val="17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672998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9BB5"/>
                </a:solidFill>
              </a:rPr>
              <a:t>Confidential  ·  March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67299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00" i="0">
                <a:solidFill>
                  <a:srgbClr val="8A9BB5"/>
                </a:solidFill>
              </a:rPr>
              <a:t>Page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